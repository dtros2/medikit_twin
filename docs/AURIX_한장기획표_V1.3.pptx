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jg/qDxI0Y2sirFQ54YTroNJwgm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19D095-57E6-454F-A4DD-C1A9C9513117}">
  <a:tblStyle styleId="{DD19D095-57E6-454F-A4DD-C1A9C9513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2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8" Type="http://customschemas.google.com/relationships/presentationmetadata" Target="metadata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365760" y="292608"/>
            <a:ext cx="48188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000"/>
              <a:buFont typeface="Malgun Gothic"/>
              <a:buNone/>
            </a:pPr>
            <a:r>
              <a:rPr lang="en-US" sz="2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한 장 기획표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365760" y="704088"/>
            <a:ext cx="481888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1000"/>
              <a:buFont typeface="Malgun Gothic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051560"/>
            <a:ext cx="1325880" cy="65836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1691640" y="1051560"/>
            <a:ext cx="5504688" cy="65836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"/>
          <p:cNvSpPr txBox="1"/>
          <p:nvPr/>
        </p:nvSpPr>
        <p:spPr>
          <a:xfrm>
            <a:off x="438912" y="1106424"/>
            <a:ext cx="1197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기본 정보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팀명 · 팀원별 역할 · 제목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1801368" y="1124712"/>
            <a:ext cx="528523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팀명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AURIX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제목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맞춤형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의료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키트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피킹·포장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디지털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트윈</a:t>
            </a:r>
            <a:r>
              <a:rPr lang="en-US" sz="10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 셀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 dirty="0" err="1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역할</a:t>
            </a:r>
            <a:r>
              <a:rPr lang="en-US" sz="10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r>
              <a:rPr lang="en-US" sz="10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도희정 씬·컨베이어·ML·로봇암 B · 최치언 로봇암 A·하역 로봇·대시보드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1783080"/>
            <a:ext cx="1325880" cy="56692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691640" y="1783080"/>
            <a:ext cx="5504688" cy="56692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 txBox="1"/>
          <p:nvPr/>
        </p:nvSpPr>
        <p:spPr>
          <a:xfrm>
            <a:off x="438912" y="1837944"/>
            <a:ext cx="1197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공정 한 문장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무엇이 들어와 → 어디서 → 어떻게 검사 → 어디로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1801368" y="1856232"/>
            <a:ext cx="528523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None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병원별 키트 주문이 들어와 로봇암 A가 선반에서 구성품을 박스에 담고, 컨베이어로 옮겨 ML 누락 검사 후, 불량은 불량 박스로, 양품은 뚜껑·라벨 후 하역장으로 간다.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2423160"/>
            <a:ext cx="1325880" cy="146304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691640" y="2423160"/>
            <a:ext cx="5504688" cy="1463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438912" y="2478024"/>
            <a:ext cx="1197864" cy="135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공정 흐름도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스테이션 4~6개 · 각 단계 담당 (로봇암/AMR/장비)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80136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1"/>
          <p:cNvSpPr txBox="1"/>
          <p:nvPr/>
        </p:nvSpPr>
        <p:spPr>
          <a:xfrm>
            <a:off x="183794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피킹·키팅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로봇암 A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자재 선반→박스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73771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289864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293522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비전 검사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이송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카메라·ML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83499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399592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403250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 dirty="0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불량 배출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 dirty="0" err="1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푸셔</a:t>
            </a:r>
            <a:endParaRPr lang="en-US" sz="800" b="0" i="0" u="none" strike="noStrike" cap="none" dirty="0">
              <a:solidFill>
                <a:srgbClr val="1D4ED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ko-KR" altLang="en-US" sz="800" b="0" i="0" u="none" strike="noStrike" cap="none" dirty="0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→불량 박스</a:t>
            </a:r>
            <a:endParaRPr lang="ko-KR" altLang="en-US"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93227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509320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512978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팩킹·라벨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로봇암 B 뚜껑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라벨 자동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029554" y="3081528"/>
            <a:ext cx="120701" cy="14630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AA6BA"/>
          </a:solidFill>
          <a:ln w="12700" cap="flat" cmpd="sng">
            <a:solidFill>
              <a:srgbClr val="9AA6B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190488" y="2670048"/>
            <a:ext cx="896112" cy="969264"/>
          </a:xfrm>
          <a:prstGeom prst="roundRect">
            <a:avLst>
              <a:gd name="adj" fmla="val 6122"/>
            </a:avLst>
          </a:prstGeom>
          <a:solidFill>
            <a:srgbClr val="F3F6FD"/>
          </a:solidFill>
          <a:ln w="9525" cap="flat" cmpd="sng">
            <a:solidFill>
              <a:srgbClr val="9DB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6227064" y="2724912"/>
            <a:ext cx="82296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9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50"/>
              <a:buFont typeface="Malgun Gothic"/>
              <a:buNone/>
            </a:pPr>
            <a:r>
              <a:rPr lang="en-US" sz="950" b="1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하역장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 로봇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AGV 경로 주행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365760" y="3959352"/>
            <a:ext cx="1325880" cy="1207008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1691640" y="3959352"/>
            <a:ext cx="5504688" cy="120700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1"/>
          <p:cNvSpPr txBox="1"/>
          <p:nvPr/>
        </p:nvSpPr>
        <p:spPr>
          <a:xfrm>
            <a:off x="438912" y="4014216"/>
            <a:ext cx="119786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구현 방식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단계별로 물리 구현 / 추상화 구분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6" name="Google Shape;46;p1"/>
          <p:cNvGraphicFramePr/>
          <p:nvPr>
            <p:extLst>
              <p:ext uri="{D42A27DB-BD31-4B8C-83A1-F6EECF244321}">
                <p14:modId xmlns:p14="http://schemas.microsoft.com/office/powerpoint/2010/main" val="93720103"/>
              </p:ext>
            </p:extLst>
          </p:nvPr>
        </p:nvGraphicFramePr>
        <p:xfrm>
          <a:off x="1801368" y="4050792"/>
          <a:ext cx="5285225" cy="1115620"/>
        </p:xfrm>
        <a:graphic>
          <a:graphicData uri="http://schemas.openxmlformats.org/drawingml/2006/table">
            <a:tbl>
              <a:tblPr>
                <a:noFill/>
                <a:tableStyleId>{DD19D095-57E6-454F-A4DD-C1A9C9513117}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단계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방식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A44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F2A44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구현 메모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피킹·키팅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로봇암 A: 선반→박스, 키트 10% 누락 + 3번째 키트 고정 누락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컨베이어 이송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키팅 → 검사 → 팩킹 → 끝, 다음 구역이 비었을 때만 진입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누락 검사·푸셔</a:t>
                      </a:r>
                      <a:endParaRPr lang="en-US" sz="900" u="none" strike="noStrike" cap="none" dirty="0">
                        <a:solidFill>
                          <a:srgbClr val="1D4ED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b="1" u="none" strike="noStrike" cap="none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물리+ML</a:t>
                      </a:r>
                      <a:endParaRPr sz="900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슬롯 센서·CNN 판정 → 불량은 푸셔가 불량 박스로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팩킹·하역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altLang="ko-KR" sz="900" b="1" u="none" strike="noStrike" cap="none" dirty="0" err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혼합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4ED8"/>
                        </a:buClr>
                        <a:buSzPts val="900"/>
                        <a:buFont typeface="Malgun Gothic"/>
                        <a:buNone/>
                      </a:pPr>
                      <a:r>
                        <a:rPr lang="ko-KR" altLang="en-US" sz="900" u="none" strike="noStrike" cap="none" dirty="0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 뚜껑(라벨 자동) → 하역 로봇이 집어 하역장에 하역</a:t>
                      </a:r>
                      <a:endParaRPr sz="900" u="none" strike="noStrike" cap="none" dirty="0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54875" marR="54875" marT="18300" marB="18300" anchor="ctr">
                    <a:lnL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3D9E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" name="Google Shape;47;p1"/>
          <p:cNvSpPr/>
          <p:nvPr/>
        </p:nvSpPr>
        <p:spPr>
          <a:xfrm>
            <a:off x="365760" y="5239512"/>
            <a:ext cx="1325880" cy="73152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1691640" y="5239512"/>
            <a:ext cx="5504688" cy="73152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438912" y="5294376"/>
            <a:ext cx="1197864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5. 어려운 점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1~2개 · 대응 아이디어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1801368" y="5312664"/>
            <a:ext cx="5285232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39700" marR="0" lvl="0" indent="-139700" algn="l" rtl="0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키트마다 구성품이 다름 → 슬롯 좌표 레시피 하나를 로봇암 A·ML이 공유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indent="-139700" algn="l" rtl="0">
              <a:spcBef>
                <a:spcPts val="20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컨베이어 구역 겹침 → 검사·팩킹 구역이 비었을 때만 다음 박스 진입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9700" marR="0" lvl="0" indent="-139700" algn="l" rtl="0">
              <a:spcBef>
                <a:spcPts val="20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Malgun Gothic"/>
              <a:buChar char="•"/>
            </a:pP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하역 로봇이 박스 집기 → 컨베이어 끝 정지 신호 후 부착 방식으로 집고 주행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365760" y="6044184"/>
            <a:ext cx="1325880" cy="713232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1691640" y="6044184"/>
            <a:ext cx="5504688" cy="71323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438912" y="6099048"/>
            <a:ext cx="1197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6. 디지털 트윈 요소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보여줄 데이터 · 이상 상황 1개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1801368" y="6117336"/>
            <a:ext cx="528523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시간당 출하량, 리드타임, 누락률, 선반별 재고, 설비 상태(가동/대기/정지)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상황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재고 소진 → 주문 보류·다음 주문 진행 → 30초 뒤 보충, 보류 주문 맨 앞 재개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365760" y="6830568"/>
            <a:ext cx="1325880" cy="82296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"/>
          <p:cNvSpPr/>
          <p:nvPr/>
        </p:nvSpPr>
        <p:spPr>
          <a:xfrm>
            <a:off x="1691640" y="6830568"/>
            <a:ext cx="5504688" cy="8229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438912" y="6885432"/>
            <a:ext cx="119786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7. MVP와 일정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 사이클 완성 날짜 · 마일스톤 2~3개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801368" y="6903720"/>
            <a:ext cx="528523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11/2 Unity 단독, 로봇암 A·컨베이어·하역 로봇으로 1건 한 사이클 (B 자동 처리)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마일스톤 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10/30 ROS2 판단 · 11/1 대시보드 · 11/2 ML 기준·푸셔 · 11/3 로봇암 B·다품종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10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</a:t>
            </a:r>
            <a:r>
              <a:rPr lang="en-US" sz="10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10/29 씬·셀 배치 · 11/1 재고 소진 · 11/4 버그 수정·시연 영상 · 11/5 발표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365760" y="7726680"/>
            <a:ext cx="1325880" cy="91440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"/>
          <p:cNvSpPr/>
          <p:nvPr/>
        </p:nvSpPr>
        <p:spPr>
          <a:xfrm>
            <a:off x="1691640" y="7726680"/>
            <a:ext cx="5504688" cy="914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438912" y="7781544"/>
            <a:ext cx="1197864" cy="804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8. 확장 계획 (선택)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/ ROS2 / 없음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ROS2는 4가지 추가 작성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1801368" y="7799832"/>
            <a:ext cx="528523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선택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■ ML   ■ ROS2   □ 없음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도희정 · CNN 정상/누락 판정 · 11/2 정확도·재현율 90% 미달 시 규칙 판정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ROS2 기능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 뒤 ROS2 노드가 로봇암 A 관절 명령 송신 (/arm_a/joint_command)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 · 연결 테스트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최치언 · 10/28~10/30 Unity↔ROS2 토픽 송수신 확인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Clr>
                <a:srgbClr val="1F2A44"/>
              </a:buClr>
              <a:buSzPts val="1000"/>
              <a:buFont typeface="Malgun Gothic"/>
              <a:buNone/>
            </a:pPr>
            <a:r>
              <a:rPr lang="en-US" sz="90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전환 기준  </a:t>
            </a:r>
            <a:r>
              <a:rPr lang="en-US" sz="900" b="0" i="0" u="none" strike="noStrike" cap="none">
                <a:solidFill>
                  <a:srgbClr val="1D4ED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10/30까지 송수신 안 되면 ROS2 제외, Unity 단독 제어로 진행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"/>
          <p:cNvSpPr/>
          <p:nvPr/>
        </p:nvSpPr>
        <p:spPr>
          <a:xfrm>
            <a:off x="365760" y="8714232"/>
            <a:ext cx="1325880" cy="1463040"/>
          </a:xfrm>
          <a:prstGeom prst="rect">
            <a:avLst/>
          </a:prstGeom>
          <a:solidFill>
            <a:srgbClr val="E9EDF4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"/>
          <p:cNvSpPr/>
          <p:nvPr/>
        </p:nvSpPr>
        <p:spPr>
          <a:xfrm>
            <a:off x="1691640" y="8714232"/>
            <a:ext cx="5504688" cy="14630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438912" y="8769096"/>
            <a:ext cx="1197864" cy="135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050"/>
              <a:buFont typeface="Malgun Gothic"/>
              <a:buNone/>
            </a:pPr>
            <a:r>
              <a:rPr lang="en-US" sz="1050" b="1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9. 멘토 피드백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8597"/>
              </a:buClr>
              <a:buSzPts val="800"/>
              <a:buFont typeface="Malgun Gothic"/>
              <a:buNone/>
            </a:pPr>
            <a:r>
              <a:rPr lang="en-US" sz="800" b="0" i="0" u="none" strike="noStrike" cap="none">
                <a:solidFill>
                  <a:srgbClr val="7A8597"/>
                </a:solidFill>
                <a:latin typeface="Malgun Gothic"/>
                <a:ea typeface="Malgun Gothic"/>
                <a:cs typeface="Malgun Gothic"/>
                <a:sym typeface="Malgun Gothic"/>
              </a:rPr>
              <a:t>멘토 작성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/>
          <p:nvPr/>
        </p:nvSpPr>
        <p:spPr>
          <a:xfrm>
            <a:off x="1691640" y="8714232"/>
            <a:ext cx="5504688" cy="1463040"/>
          </a:xfrm>
          <a:prstGeom prst="rect">
            <a:avLst/>
          </a:prstGeom>
          <a:solidFill>
            <a:srgbClr val="FFF9EC"/>
          </a:solidFill>
          <a:ln w="9525" cap="flat" cmpd="sng">
            <a:solidFill>
              <a:srgbClr val="B9C2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"/>
          <p:cNvSpPr txBox="1"/>
          <p:nvPr/>
        </p:nvSpPr>
        <p:spPr>
          <a:xfrm>
            <a:off x="1801368" y="8787384"/>
            <a:ext cx="5285232" cy="1316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750"/>
              <a:buFont typeface="Malgun Gothic"/>
              <a:buNone/>
            </a:pPr>
            <a:r>
              <a:rPr lang="en-US" sz="750" i="0" u="none" strike="noStrike" cap="none">
                <a:solidFill>
                  <a:srgbClr val="1F2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결론  </a:t>
            </a:r>
            <a:r>
              <a:rPr lang="en-US" sz="750" i="0" u="none" strike="noStrike" cap="none">
                <a:solidFill>
                  <a:srgbClr val="9A4A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□ 진행   □ 조건부 진행   □ 재검토</a:t>
            </a:r>
            <a:endParaRPr sz="750" i="0" u="none" strike="noStrike" cap="none">
              <a:solidFill>
                <a:srgbClr val="9A4A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일정 수정: 11/3에 다품종, 대시보드, 이상 상황, ML 판정 기준, ROS2 판단이 몰려 있으니 분산할 것. ROS2 전환 기준은 10/30으로 앞당기고, MVP는 처음부터 Unity 단독 제어로 구현할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누락 발생 규칙 정하기: 로봇암 A가 레시피대로 다 담으면 B가 분류할 불량이 생기지 않음. 피킹 단계의 누락 확률(예: 10%)과 시연용 고정 누락 주문(예: 3번째 주문)을 정할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로봇암 B 단순화: "한 번 집고, 내려놓을 곳 2개"로. 검사대에서 집어 양품은 밀봉기, 불량은 재작업 트레이로 놓으면 되므로 분류와 로딩을 별도 동작으로 만들 필요 없음. MVP는 A만으로 한 사이클을 돌리고, B는 그 뒤에 추가할 것.</a:t>
            </a:r>
            <a:endParaRPr sz="75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AutoNum type="arabicPeriod"/>
            </a:pPr>
            <a:r>
              <a:rPr lang="en-US" sz="750">
                <a:solidFill>
                  <a:schemeClr val="dk1"/>
                </a:solidFill>
              </a:rPr>
              <a:t>로봇암 A 동작 순서 명시: 지그 위 박스에 구성품을 다 담은 뒤 박스 자체를 검사대로 옮기는지 확인 필요. 그렇다면 A는 "구성품 배치 + 박스 이송" 두 종류의 집기를 하므로 4번 표에 적을 것.</a:t>
            </a:r>
            <a:endParaRPr sz="75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F2A44"/>
              </a:buClr>
              <a:buSzPts val="750"/>
              <a:buFont typeface="Malgun Gothic"/>
              <a:buNone/>
            </a:pPr>
            <a:endParaRPr sz="750">
              <a:solidFill>
                <a:srgbClr val="9A4A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678</Words>
  <Application>Microsoft Office PowerPoint</Application>
  <PresentationFormat>사용자 지정</PresentationFormat>
  <Paragraphs>78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HEEGEONG DO</cp:lastModifiedBy>
  <cp:revision>8</cp:revision>
  <dcterms:created xsi:type="dcterms:W3CDTF">2026-10-27T02:26:25Z</dcterms:created>
  <dcterms:modified xsi:type="dcterms:W3CDTF">2026-10-27T08:03:59Z</dcterms:modified>
</cp:coreProperties>
</file>